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95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3772" autoAdjust="0"/>
  </p:normalViewPr>
  <p:slideViewPr>
    <p:cSldViewPr snapToGrid="0">
      <p:cViewPr>
        <p:scale>
          <a:sx n="66" d="100"/>
          <a:sy n="66" d="100"/>
        </p:scale>
        <p:origin x="1602" y="9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692B31-2CA4-416C-A05A-EC53D8318D4B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39C610-8A80-443E-9B75-B347698E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5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9C610-8A80-443E-9B75-B347698EAF7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51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9C610-8A80-443E-9B75-B347698EAF7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817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9C610-8A80-443E-9B75-B347698EAF7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679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9C610-8A80-443E-9B75-B347698EAF7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210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9C610-8A80-443E-9B75-B347698EAF7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500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9C610-8A80-443E-9B75-B347698EAF7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376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9C610-8A80-443E-9B75-B347698EAF7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16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9C610-8A80-443E-9B75-B347698EAF7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793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9C610-8A80-443E-9B75-B347698EAF7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58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D211B-39E9-4D11-A212-83DCAD4B717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7CE7-8013-4A47-93D0-E6A7A2F30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72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D211B-39E9-4D11-A212-83DCAD4B717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7CE7-8013-4A47-93D0-E6A7A2F30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828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D211B-39E9-4D11-A212-83DCAD4B717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7CE7-8013-4A47-93D0-E6A7A2F30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84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D211B-39E9-4D11-A212-83DCAD4B717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7CE7-8013-4A47-93D0-E6A7A2F30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156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D211B-39E9-4D11-A212-83DCAD4B717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7CE7-8013-4A47-93D0-E6A7A2F30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662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D211B-39E9-4D11-A212-83DCAD4B717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7CE7-8013-4A47-93D0-E6A7A2F30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14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D211B-39E9-4D11-A212-83DCAD4B717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7CE7-8013-4A47-93D0-E6A7A2F30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79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D211B-39E9-4D11-A212-83DCAD4B717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7CE7-8013-4A47-93D0-E6A7A2F30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30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D211B-39E9-4D11-A212-83DCAD4B717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7CE7-8013-4A47-93D0-E6A7A2F30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814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D211B-39E9-4D11-A212-83DCAD4B717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7CE7-8013-4A47-93D0-E6A7A2F30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697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D211B-39E9-4D11-A212-83DCAD4B717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7CE7-8013-4A47-93D0-E6A7A2F309F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330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D211B-39E9-4D11-A212-83DCAD4B717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7CE7-8013-4A47-93D0-E6A7A2F30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317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D211B-39E9-4D11-A212-83DCAD4B717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7CE7-8013-4A47-93D0-E6A7A2F309F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8004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D211B-39E9-4D11-A212-83DCAD4B717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7CE7-8013-4A47-93D0-E6A7A2F30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747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D211B-39E9-4D11-A212-83DCAD4B717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7CE7-8013-4A47-93D0-E6A7A2F30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84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D211B-39E9-4D11-A212-83DCAD4B717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A7CE7-8013-4A47-93D0-E6A7A2F30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17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D211B-39E9-4D11-A212-83DCAD4B7179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8BA7CE7-8013-4A47-93D0-E6A7A2F30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073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5CF16-693B-CF79-1630-4958718BA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 fontScale="90000"/>
          </a:bodyPr>
          <a:lstStyle/>
          <a:p>
            <a:r>
              <a:rPr lang="en-US" sz="5200" b="1">
                <a:solidFill>
                  <a:schemeClr val="tx2"/>
                </a:solidFill>
              </a:rPr>
              <a:t>Citrix 2019 Migration Application Map</a:t>
            </a:r>
            <a:endParaRPr lang="en-US" sz="5200" b="1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C48972-6FF1-0641-F54A-465B314136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160126"/>
            <a:ext cx="6105194" cy="682079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Peter Petersen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916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01ED-80C8-9F2B-0072-5267F892F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61554"/>
            <a:ext cx="8596668" cy="633274"/>
          </a:xfrm>
        </p:spPr>
        <p:txBody>
          <a:bodyPr>
            <a:normAutofit fontScale="90000"/>
          </a:bodyPr>
          <a:lstStyle/>
          <a:p>
            <a:r>
              <a:rPr lang="en-US" b="1"/>
              <a:t>Context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CC3FA-8B5E-E9D2-12D1-099B667DE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30256"/>
            <a:ext cx="8596668" cy="46696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chemeClr val="tx1"/>
                </a:solidFill>
              </a:rPr>
              <a:t>What is Citrix?</a:t>
            </a:r>
          </a:p>
          <a:p>
            <a:r>
              <a:rPr lang="en-US">
                <a:solidFill>
                  <a:schemeClr val="tx1"/>
                </a:solidFill>
              </a:rPr>
              <a:t>Citrix at Fisher is a collection of 538 servers, that 4000 employee’s login into daily.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It is a virtual desktop that employees use to remotely access Fisher’s working environment.</a:t>
            </a:r>
          </a:p>
          <a:p>
            <a:pPr marL="0" indent="0">
              <a:buNone/>
            </a:pPr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Employee’s access Citrix through Citrix storefront via an application</a:t>
            </a: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     or through Fishers website.</a:t>
            </a:r>
          </a:p>
          <a:p>
            <a:pPr marL="0" indent="0">
              <a:buNone/>
            </a:pPr>
            <a:endParaRPr lang="en-US" sz="2000"/>
          </a:p>
          <a:p>
            <a:endParaRPr lang="en-US" dirty="0"/>
          </a:p>
        </p:txBody>
      </p:sp>
      <p:pic>
        <p:nvPicPr>
          <p:cNvPr id="8" name="Picture 7" descr="A white square with black text&#10;&#10;Description automatically generated">
            <a:extLst>
              <a:ext uri="{FF2B5EF4-FFF2-40B4-BE49-F238E27FC236}">
                <a16:creationId xmlns:a16="http://schemas.microsoft.com/office/drawing/2014/main" id="{29A3259B-4833-4305-FE77-A1BDB6BD03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025" y="-552323"/>
            <a:ext cx="5418666" cy="372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631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01ED-80C8-9F2B-0072-5267F892F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61554"/>
            <a:ext cx="8596668" cy="633274"/>
          </a:xfrm>
        </p:spPr>
        <p:txBody>
          <a:bodyPr>
            <a:normAutofit fontScale="90000"/>
          </a:bodyPr>
          <a:lstStyle/>
          <a:p>
            <a:r>
              <a:rPr lang="en-US" b="1"/>
              <a:t>Context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CC3FA-8B5E-E9D2-12D1-099B667DE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30256"/>
            <a:ext cx="8596668" cy="46696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Why Do We Need This App Map?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End of life for Citrix version 2016 executes in October, so our team must do a year's worth of server work in a couple of months.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Constructing blueprints on how we are going to migrate is critical, and has little room for error given our timeframe.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For network engineers making these connections between infrastructure and firewalls can be abstract, so visualization is invaluable.</a:t>
            </a:r>
          </a:p>
          <a:p>
            <a:pPr marL="0" indent="0">
              <a:buNone/>
            </a:pPr>
            <a:endParaRPr lang="en-US" sz="2000" dirty="0"/>
          </a:p>
          <a:p>
            <a:endParaRPr lang="en-US" dirty="0"/>
          </a:p>
        </p:txBody>
      </p:sp>
      <p:pic>
        <p:nvPicPr>
          <p:cNvPr id="4" name="Picture 3" descr="A white square with black text&#10;&#10;Description automatically generated">
            <a:extLst>
              <a:ext uri="{FF2B5EF4-FFF2-40B4-BE49-F238E27FC236}">
                <a16:creationId xmlns:a16="http://schemas.microsoft.com/office/drawing/2014/main" id="{C4ED0E59-380B-7D03-9095-9F691D6238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025" y="-552323"/>
            <a:ext cx="5418666" cy="372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118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CC3FA-8B5E-E9D2-12D1-099B667DE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42874"/>
            <a:ext cx="8596668" cy="46696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0B0F0"/>
                </a:solidFill>
              </a:rPr>
              <a:t>UDP</a:t>
            </a:r>
          </a:p>
          <a:p>
            <a:r>
              <a:rPr lang="en-US">
                <a:solidFill>
                  <a:schemeClr val="tx1"/>
                </a:solidFill>
              </a:rPr>
              <a:t>Simpler and faster </a:t>
            </a:r>
          </a:p>
          <a:p>
            <a:r>
              <a:rPr lang="en-US">
                <a:solidFill>
                  <a:schemeClr val="tx1"/>
                </a:solidFill>
              </a:rPr>
              <a:t>Not the most reliable</a:t>
            </a:r>
          </a:p>
          <a:p>
            <a:pPr marL="0" indent="0">
              <a:buNone/>
            </a:pPr>
            <a:endParaRPr 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b="1">
                <a:solidFill>
                  <a:srgbClr val="00B050"/>
                </a:solidFill>
              </a:rPr>
              <a:t>TCP</a:t>
            </a:r>
          </a:p>
          <a:p>
            <a:r>
              <a:rPr lang="en-US">
                <a:solidFill>
                  <a:schemeClr val="tx1"/>
                </a:solidFill>
              </a:rPr>
              <a:t>Slower and less advanced</a:t>
            </a:r>
          </a:p>
          <a:p>
            <a:r>
              <a:rPr lang="en-US">
                <a:solidFill>
                  <a:schemeClr val="tx1"/>
                </a:solidFill>
              </a:rPr>
              <a:t>Very reliable</a:t>
            </a:r>
          </a:p>
          <a:p>
            <a:pPr marL="0" indent="0">
              <a:buNone/>
            </a:pPr>
            <a:endParaRPr 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b="1">
                <a:solidFill>
                  <a:srgbClr val="B895DF"/>
                </a:solidFill>
              </a:rPr>
              <a:t>Firewall</a:t>
            </a:r>
            <a:endParaRPr lang="en-US" sz="2000" b="1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Network security device</a:t>
            </a: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 </a:t>
            </a:r>
            <a:endParaRPr lang="en-US" dirty="0">
              <a:solidFill>
                <a:srgbClr val="B895DF"/>
              </a:solidFill>
            </a:endParaRPr>
          </a:p>
        </p:txBody>
      </p:sp>
      <p:pic>
        <p:nvPicPr>
          <p:cNvPr id="5" name="Picture 4" descr="A diagram of a cloud application">
            <a:extLst>
              <a:ext uri="{FF2B5EF4-FFF2-40B4-BE49-F238E27FC236}">
                <a16:creationId xmlns:a16="http://schemas.microsoft.com/office/drawing/2014/main" id="{F0C8D5E5-E59A-C68F-4BB0-F5E30CABA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053" y="642548"/>
            <a:ext cx="7325747" cy="557290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59B45DE-5BF7-0898-ACD5-267C5D9F4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61554"/>
            <a:ext cx="8596668" cy="633274"/>
          </a:xfrm>
        </p:spPr>
        <p:txBody>
          <a:bodyPr>
            <a:normAutofit fontScale="90000"/>
          </a:bodyPr>
          <a:lstStyle/>
          <a:p>
            <a:r>
              <a:rPr lang="en-US" b="1"/>
              <a:t>Protocols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5356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01ED-80C8-9F2B-0072-5267F892F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61554"/>
            <a:ext cx="8596668" cy="633274"/>
          </a:xfrm>
        </p:spPr>
        <p:txBody>
          <a:bodyPr>
            <a:normAutofit fontScale="90000"/>
          </a:bodyPr>
          <a:lstStyle/>
          <a:p>
            <a:r>
              <a:rPr lang="en-US" b="1"/>
              <a:t>1</a:t>
            </a:r>
            <a:r>
              <a:rPr lang="en-US" b="1" baseline="30000"/>
              <a:t>st</a:t>
            </a:r>
            <a:r>
              <a:rPr lang="en-US" b="1"/>
              <a:t> Stage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CC3FA-8B5E-E9D2-12D1-099B667DE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30256"/>
            <a:ext cx="5714757" cy="46696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End User to Target Devices</a:t>
            </a:r>
          </a:p>
          <a:p>
            <a:r>
              <a:rPr lang="en-US" dirty="0">
                <a:solidFill>
                  <a:schemeClr val="tx1"/>
                </a:solidFill>
              </a:rPr>
              <a:t>The end user connects to Fisher’s F5 network either locally with WIFI or through a VPN.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Once connected to the F5, users can access the target devices (Citrix’s 538 Servers).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These target devices are not the virtual desktop’s themselves.     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/>
          </a:p>
          <a:p>
            <a:endParaRPr lang="en-US" dirty="0"/>
          </a:p>
        </p:txBody>
      </p:sp>
      <p:pic>
        <p:nvPicPr>
          <p:cNvPr id="6" name="Picture 5" descr="A computer diagram of a computer system&#10;&#10;Description automatically generated with medium confidence">
            <a:extLst>
              <a:ext uri="{FF2B5EF4-FFF2-40B4-BE49-F238E27FC236}">
                <a16:creationId xmlns:a16="http://schemas.microsoft.com/office/drawing/2014/main" id="{33207569-2B9F-F8C9-C23E-5FC425160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091" y="1530256"/>
            <a:ext cx="5418909" cy="353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136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01ED-80C8-9F2B-0072-5267F892F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61554"/>
            <a:ext cx="8596668" cy="63327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2</a:t>
            </a:r>
            <a:r>
              <a:rPr lang="en-US" b="1" baseline="30000" dirty="0"/>
              <a:t>nd</a:t>
            </a:r>
            <a:r>
              <a:rPr lang="en-US" b="1" dirty="0"/>
              <a:t> Stage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CC3FA-8B5E-E9D2-12D1-099B667DE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30256"/>
            <a:ext cx="6142566" cy="466965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chemeClr val="tx1"/>
                </a:solidFill>
              </a:rPr>
              <a:t>Provisioning Servers</a:t>
            </a:r>
          </a:p>
          <a:p>
            <a:r>
              <a:rPr lang="en-US" sz="2300" dirty="0">
                <a:solidFill>
                  <a:schemeClr val="tx1"/>
                </a:solidFill>
              </a:rPr>
              <a:t>Each one of the 538 target devices house 1-8</a:t>
            </a:r>
          </a:p>
          <a:p>
            <a:pPr marL="0" indent="0">
              <a:buNone/>
            </a:pPr>
            <a:r>
              <a:rPr lang="en-US" sz="2300" dirty="0">
                <a:solidFill>
                  <a:schemeClr val="tx1"/>
                </a:solidFill>
              </a:rPr>
              <a:t>     virtual desktop servers.</a:t>
            </a:r>
          </a:p>
          <a:p>
            <a:pPr marL="0" indent="0">
              <a:buNone/>
            </a:pPr>
            <a:endParaRPr lang="en-US" sz="2300" dirty="0">
              <a:solidFill>
                <a:schemeClr val="tx1"/>
              </a:solidFill>
            </a:endParaRPr>
          </a:p>
          <a:p>
            <a:r>
              <a:rPr lang="en-US" sz="2300" dirty="0">
                <a:solidFill>
                  <a:schemeClr val="tx1"/>
                </a:solidFill>
              </a:rPr>
              <a:t>These provisioning servers hold a virtual disk</a:t>
            </a:r>
          </a:p>
          <a:p>
            <a:pPr marL="0" indent="0">
              <a:buNone/>
            </a:pPr>
            <a:r>
              <a:rPr lang="en-US" sz="2300" dirty="0">
                <a:solidFill>
                  <a:schemeClr val="tx1"/>
                </a:solidFill>
              </a:rPr>
              <a:t>     that contains the C: Drive and OS.</a:t>
            </a:r>
          </a:p>
          <a:p>
            <a:pPr marL="0" indent="0">
              <a:buNone/>
            </a:pPr>
            <a:endParaRPr lang="en-US" sz="2300" dirty="0">
              <a:solidFill>
                <a:schemeClr val="tx1"/>
              </a:solidFill>
            </a:endParaRPr>
          </a:p>
          <a:p>
            <a:r>
              <a:rPr lang="en-US" sz="2300" dirty="0">
                <a:solidFill>
                  <a:schemeClr val="tx1"/>
                </a:solidFill>
              </a:rPr>
              <a:t>That virtual disk is then streamed across our </a:t>
            </a:r>
          </a:p>
          <a:p>
            <a:pPr marL="0" indent="0">
              <a:buNone/>
            </a:pPr>
            <a:r>
              <a:rPr lang="en-US" sz="2300" dirty="0">
                <a:solidFill>
                  <a:schemeClr val="tx1"/>
                </a:solidFill>
              </a:rPr>
              <a:t>     network to a blank target device server</a:t>
            </a:r>
          </a:p>
          <a:p>
            <a:pPr marL="0" indent="0">
              <a:buNone/>
            </a:pPr>
            <a:r>
              <a:rPr lang="en-US" sz="2300" dirty="0">
                <a:solidFill>
                  <a:schemeClr val="tx1"/>
                </a:solidFill>
              </a:rPr>
              <a:t>     which is what the end user view’s when</a:t>
            </a:r>
          </a:p>
          <a:p>
            <a:pPr marL="0" indent="0">
              <a:buNone/>
            </a:pPr>
            <a:r>
              <a:rPr lang="en-US" sz="2300" dirty="0">
                <a:solidFill>
                  <a:schemeClr val="tx1"/>
                </a:solidFill>
              </a:rPr>
              <a:t>     logging in.</a:t>
            </a:r>
          </a:p>
          <a:p>
            <a:pPr marL="0" indent="0">
              <a:buNone/>
            </a:pPr>
            <a:r>
              <a:rPr lang="en-US" sz="2500" dirty="0">
                <a:solidFill>
                  <a:schemeClr val="tx1"/>
                </a:solidFill>
              </a:rPr>
              <a:t>    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     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/>
          </a:p>
          <a:p>
            <a:endParaRPr lang="en-US" dirty="0"/>
          </a:p>
        </p:txBody>
      </p:sp>
      <p:pic>
        <p:nvPicPr>
          <p:cNvPr id="6" name="Picture 5" descr="A diagram of a computer workflow">
            <a:extLst>
              <a:ext uri="{FF2B5EF4-FFF2-40B4-BE49-F238E27FC236}">
                <a16:creationId xmlns:a16="http://schemas.microsoft.com/office/drawing/2014/main" id="{6E313E82-484C-6C34-EAF3-64B3F75D26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1157" y="842601"/>
            <a:ext cx="3505689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081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01ED-80C8-9F2B-0072-5267F892F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61554"/>
            <a:ext cx="8596668" cy="63327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3</a:t>
            </a:r>
            <a:r>
              <a:rPr lang="en-US" b="1" baseline="30000" dirty="0"/>
              <a:t>rd</a:t>
            </a:r>
            <a:r>
              <a:rPr lang="en-US" b="1" dirty="0"/>
              <a:t> Stage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CC3FA-8B5E-E9D2-12D1-099B667DE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30256"/>
            <a:ext cx="5618691" cy="46696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Cloud Connectors</a:t>
            </a:r>
          </a:p>
          <a:p>
            <a:r>
              <a:rPr lang="en-US" dirty="0">
                <a:solidFill>
                  <a:schemeClr val="tx1"/>
                </a:solidFill>
              </a:rPr>
              <a:t>Controls who gets what desktop on Citrix storefront by connecting to a delivery controller.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This delivery controller is currently in our own network but we are moving it to the cloud.     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     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/>
          </a:p>
          <a:p>
            <a:endParaRPr lang="en-US" dirty="0"/>
          </a:p>
        </p:txBody>
      </p:sp>
      <p:pic>
        <p:nvPicPr>
          <p:cNvPr id="11" name="Picture 10" descr="A diagram of a cloud connection&#10;&#10;Description automatically generated">
            <a:extLst>
              <a:ext uri="{FF2B5EF4-FFF2-40B4-BE49-F238E27FC236}">
                <a16:creationId xmlns:a16="http://schemas.microsoft.com/office/drawing/2014/main" id="{B3DF6FEF-C6CA-D108-7E3D-BA9B5B1229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788" y="633022"/>
            <a:ext cx="4496427" cy="559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356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01ED-80C8-9F2B-0072-5267F892F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61554"/>
            <a:ext cx="8596668" cy="63327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4</a:t>
            </a:r>
            <a:r>
              <a:rPr lang="en-US" b="1" baseline="30000" dirty="0"/>
              <a:t>th</a:t>
            </a:r>
            <a:r>
              <a:rPr lang="en-US" b="1" dirty="0"/>
              <a:t> Stage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CC3FA-8B5E-E9D2-12D1-099B667DE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30256"/>
            <a:ext cx="6133041" cy="46696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The Microsoft Network and Legacy</a:t>
            </a:r>
          </a:p>
          <a:p>
            <a:r>
              <a:rPr lang="en-US" dirty="0">
                <a:solidFill>
                  <a:schemeClr val="tx1"/>
                </a:solidFill>
              </a:rPr>
              <a:t>Controls authentication, IP addressing, and Licensing.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Legacy holds all of the configuration data that makes Fisher’s Citrix hypervisor unique.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All of these components work in tandem to present the end user a seamless virtual desktop experience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     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     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/>
          </a:p>
          <a:p>
            <a:endParaRPr lang="en-US" dirty="0"/>
          </a:p>
        </p:txBody>
      </p:sp>
      <p:pic>
        <p:nvPicPr>
          <p:cNvPr id="5" name="Picture 4" descr="A screenshot of a computer flow chart&#10;&#10;Description automatically generated">
            <a:extLst>
              <a:ext uri="{FF2B5EF4-FFF2-40B4-BE49-F238E27FC236}">
                <a16:creationId xmlns:a16="http://schemas.microsoft.com/office/drawing/2014/main" id="{E4E5D694-0361-DBC8-3ED8-EFD3ACF029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788" y="899759"/>
            <a:ext cx="4496427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563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01ED-80C8-9F2B-0072-5267F892F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61554"/>
            <a:ext cx="8596668" cy="63327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CC3FA-8B5E-E9D2-12D1-099B667DE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30256"/>
            <a:ext cx="8961967" cy="466965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It was a struggle to navigate Fisher’s current unorganized Citrix environment, let alone organize and design a migration with new infrastructure components.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Finding individual mac id’s and IP addresses for infrastructure took longer than expected because I had to develop PowerShell scripts and get read access.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This was the first 2019 Citrix Migration application map, so designing a map that could be digestible at all levels was delicate.</a:t>
            </a:r>
          </a:p>
          <a:p>
            <a:pPr marL="0" indent="0">
              <a:buNone/>
            </a:pPr>
            <a:endParaRPr lang="en-US" sz="19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/>
          </a:p>
          <a:p>
            <a:endParaRPr lang="en-US" dirty="0"/>
          </a:p>
        </p:txBody>
      </p:sp>
      <p:pic>
        <p:nvPicPr>
          <p:cNvPr id="4" name="Picture 3" descr="A white square with black text&#10;&#10;Description automatically generated">
            <a:extLst>
              <a:ext uri="{FF2B5EF4-FFF2-40B4-BE49-F238E27FC236}">
                <a16:creationId xmlns:a16="http://schemas.microsoft.com/office/drawing/2014/main" id="{3BB58488-3AA5-C7DE-CFC0-B4E580FE1D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025" y="-552323"/>
            <a:ext cx="5418666" cy="372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203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01ED-80C8-9F2B-0072-5267F892F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61554"/>
            <a:ext cx="8596668" cy="63327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Outcomes &amp;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CC3FA-8B5E-E9D2-12D1-099B667DE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30256"/>
            <a:ext cx="9009591" cy="466965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application map has given the I/O group a migration timeframe estimate, and at our current rate we can finish this project around October.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This map helped identify the teams needed to migrate such as Network Security, Info Sec, Server Lifecycle, Group Policy Admin’s, Citrix Team, and Digital Workplace.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 was able to pioneer the way Visio application map’s are constructed and how they visualize information within my team.     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/>
          </a:p>
          <a:p>
            <a:endParaRPr lang="en-US" dirty="0"/>
          </a:p>
        </p:txBody>
      </p:sp>
      <p:pic>
        <p:nvPicPr>
          <p:cNvPr id="4" name="Picture 3" descr="A white square with black text&#10;&#10;Description automatically generated">
            <a:extLst>
              <a:ext uri="{FF2B5EF4-FFF2-40B4-BE49-F238E27FC236}">
                <a16:creationId xmlns:a16="http://schemas.microsoft.com/office/drawing/2014/main" id="{E186DD3F-C994-3AB4-3D2F-6F52A09A5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025" y="-552323"/>
            <a:ext cx="5418666" cy="372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29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01ED-80C8-9F2B-0072-5267F892F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413929"/>
            <a:ext cx="8596668" cy="63327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CC3FA-8B5E-E9D2-12D1-099B667DE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30256"/>
            <a:ext cx="8895292" cy="466965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Moving to cloud servers would allow us dynamically scale servers as needed so we can turn off servers not being used, saving large sums of electricity.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Migration to the cloud would reduce latency for Citrix users outside of the United States.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Refining the collaboration process between different teams and departments would reduce downtime.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     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/>
          </a:p>
          <a:p>
            <a:endParaRPr lang="en-US" dirty="0"/>
          </a:p>
        </p:txBody>
      </p:sp>
      <p:pic>
        <p:nvPicPr>
          <p:cNvPr id="4" name="Picture 3" descr="A white square with black text&#10;&#10;Description automatically generated">
            <a:extLst>
              <a:ext uri="{FF2B5EF4-FFF2-40B4-BE49-F238E27FC236}">
                <a16:creationId xmlns:a16="http://schemas.microsoft.com/office/drawing/2014/main" id="{7968BE9E-60E8-9754-8EC6-832EF58138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025" y="-552323"/>
            <a:ext cx="5418666" cy="372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13249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12883</TotalTime>
  <Words>587</Words>
  <Application>Microsoft Office PowerPoint</Application>
  <PresentationFormat>Widescreen</PresentationFormat>
  <Paragraphs>115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Trebuchet MS</vt:lpstr>
      <vt:lpstr>Wingdings 3</vt:lpstr>
      <vt:lpstr>Facet</vt:lpstr>
      <vt:lpstr>Citrix 2019 Migration Application Map</vt:lpstr>
      <vt:lpstr>Context</vt:lpstr>
      <vt:lpstr>Context</vt:lpstr>
      <vt:lpstr>Protocols</vt:lpstr>
      <vt:lpstr>1st Stage</vt:lpstr>
      <vt:lpstr>2nd Stage</vt:lpstr>
      <vt:lpstr>3rd Stage</vt:lpstr>
      <vt:lpstr>4th Stage</vt:lpstr>
      <vt:lpstr>Challenges</vt:lpstr>
      <vt:lpstr>Outcomes &amp; Findings</vt:lpstr>
      <vt:lpstr>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Petersen</dc:creator>
  <cp:lastModifiedBy>Peter Petersen</cp:lastModifiedBy>
  <cp:revision>2</cp:revision>
  <dcterms:created xsi:type="dcterms:W3CDTF">2024-07-31T21:20:54Z</dcterms:created>
  <dcterms:modified xsi:type="dcterms:W3CDTF">2024-08-09T20:04:39Z</dcterms:modified>
</cp:coreProperties>
</file>